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45720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SMART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32588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GROCERY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2148840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BBF7D0"/>
                </a:solidFill>
              </a:rPr>
              <a:t>MANAGEMENT
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3840480"/>
            <a:ext cx="3931920" cy="36576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40233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First Review — 20 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440740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F7D0"/>
                </a:solidFill>
              </a:rPr>
              <a:t>Literature Review  ·  Research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914400"/>
            <a:ext cx="7223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11827"/>
                </a:solidFill>
              </a:rPr>
              <a:t>A Machine Learning–Driven Approach to Demand Prediction,
Waste Reduction &amp; Budget Optimisation
for Indian Households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834640"/>
            <a:ext cx="722376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37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</a:rPr>
              <a:t>[Your Name]  ·  [Roll No.]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7673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[Department]  ·  [Institution]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13308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Guide: [Supervisor 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480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[Tuesday, Date]  —  First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5074920"/>
            <a:ext cx="7223760" cy="12344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513892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02F"/>
                </a:solidFill>
              </a:rPr>
              <a:t>Evaluation Criteria (20 Marks)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5468112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</a:rPr>
              <a:t>1.  Literature Review &amp; Theoretical Background  — 10 marks
    (Depth, ABDC/Scopus sources, conceptual framework)
2.  Research Design / Project Plan  — 10 marks
    (Sampling plan, tools identified, milestones clarity)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₹92,000 Crore Lost Every Year — Starting in Indian Kitchens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7D0"/>
                </a:solidFill>
              </a:rPr>
              <a:t>Three interlocking problems that define household grocery management in India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3657600" cy="13716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508760"/>
            <a:ext cx="34381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702F"/>
                </a:solidFill>
              </a:rPr>
              <a:t>68.7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2084831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11827"/>
                </a:solidFill>
              </a:rPr>
              <a:t>tonnes food wasted annually in India
— UNEP Food Waste Index, 2021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417320"/>
            <a:ext cx="3657600" cy="137160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1508760"/>
            <a:ext cx="34381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924009"/>
                </a:solidFill>
              </a:rPr>
              <a:t>₹92,000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2084831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11827"/>
                </a:solidFill>
              </a:rPr>
              <a:t>post-harvest losses per year
— MoFPI Annual Report, 2022–23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417320"/>
            <a:ext cx="365760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7" y="1508760"/>
            <a:ext cx="34381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40AF"/>
                </a:solidFill>
              </a:rPr>
              <a:t>45–52%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2084831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11827"/>
                </a:solidFill>
              </a:rPr>
              <a:t>of household income spent on food
— NSSO 68th Round, 2014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71800"/>
            <a:ext cx="3749039" cy="157276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3044952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02F"/>
                </a:solidFill>
              </a:rPr>
              <a:t>📅  Demand Uncertainty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" y="3401568"/>
            <a:ext cx="34930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"How much dal before Diwali? How much atta before the festival?"
Festival cycles, mandi price swings, and monsoon supply gaps create
non-linear demand patterns no reorder app models.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2971800"/>
            <a:ext cx="3749039" cy="157276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5" y="3044952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02F"/>
                </a:solidFill>
              </a:rPr>
              <a:t>🌧️  Climate-Driven Waste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5" y="3401568"/>
            <a:ext cx="34930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"My spinach wilted in 2 days — it's the monsoon humidity."
Monsoon (Jun–Sep) reduces perishable shelf life by 40–60%.
No existing app adjusts expiry estimates for Indian seasons.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971800"/>
            <a:ext cx="3749039" cy="157276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6" y="3044952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02F"/>
                </a:solidFill>
              </a:rPr>
              <a:t>💸  No Budget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3401568"/>
            <a:ext cx="34930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"We spent ₹6,000 this month — is that normal for us?"
Without anomaly detection, households have no objective
reference for whether their spend is inflated.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75488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These are not general problems — they are uniquely Indian, uniquely data-solvable.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" y="6519672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</a:rPr>
              <a:t>Sources: UNEP Food Waste Index Report (2021)  ·  MoFPI GoI Annual Report (2022–23)  ·  NSSO 68th Round Household Consumer Expenditure Survey (2014)  ·  FSSAI (2021)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Gap Analysis — Why Existing Solutions Are Insufficient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7D0"/>
                </a:solidFill>
              </a:rPr>
              <a:t>Bouakkaz et al. (2022), IJACSA [Scopus]: no consumer-facing system integrates all five intelligence layers for Indian households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256032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453896"/>
            <a:ext cx="246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Platform / Tool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417320"/>
            <a:ext cx="182880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07791" y="145389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417320"/>
            <a:ext cx="292608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453896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417320"/>
            <a:ext cx="457200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2" y="1453896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Critical Gap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91640"/>
            <a:ext cx="2560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728216"/>
            <a:ext cx="246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BigBasket / Blinkit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39" y="169164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7791" y="172821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E-commerce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691640"/>
            <a:ext cx="29260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1728216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Re-orders past items faster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691640"/>
            <a:ext cx="45720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728216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No waste prediction · No budget anomaly · No sustainability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965960"/>
            <a:ext cx="256032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002536"/>
            <a:ext cx="246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Zepto / Swiggy Instamart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39" y="1965960"/>
            <a:ext cx="182880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07791" y="200253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Quick-commerce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965960"/>
            <a:ext cx="292608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2002536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Speed-optimised delivery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1965960"/>
            <a:ext cx="457200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62672" y="2002536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Zero intelligence layer — purely transactional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240280"/>
            <a:ext cx="2560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2276856"/>
            <a:ext cx="246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OurGroceries / AnyList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39" y="224028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07791" y="22768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List manager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2240280"/>
            <a:ext cx="29260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2276856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Manual shopping list creation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2240280"/>
            <a:ext cx="45720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2276856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Fully manual · No ML · No India-specific 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514600"/>
            <a:ext cx="256032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2551176"/>
            <a:ext cx="246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Mint / Walnut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39" y="2514600"/>
            <a:ext cx="182880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07791" y="25511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Finance app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2514600"/>
            <a:ext cx="292608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36592" y="2551176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Post-hoc expense categorisation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2514600"/>
            <a:ext cx="457200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62672" y="2551176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Backward-looking only · No item-level prediction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788920"/>
            <a:ext cx="2560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2825496"/>
            <a:ext cx="246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Academic prototypes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34639" y="278892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07791" y="282549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Research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2788920"/>
            <a:ext cx="29260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36592" y="2825496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ML-based grocery forecasting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89520" y="2788920"/>
            <a:ext cx="45720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62672" y="2825496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Not India-specific · No waste + demand + sustainability integration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822191"/>
            <a:ext cx="11612880" cy="107899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" y="38862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02F"/>
                </a:solidFill>
              </a:rPr>
              <a:t>📌  Research Gap (Bouakkaz, Adjoudj &amp; Bouakkaz, 2022 — Scopus):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" y="4224528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</a:rPr>
              <a:t>No consumer-facing system combines:  (1) personalised demand forecasting  +  (2) climate-aware waste risk prediction  +  (3) budget anomaly detection
+  (4) sustainability scoring  +  (5) basket optimisation — calibrated to Indian seasons, festivals, and mandi price cycles.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074920"/>
            <a:ext cx="100584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" y="5111496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Scopus Q1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89888" y="510235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6A34A"/>
                </a:solidFill>
              </a:rPr>
              <a:t>This project addresses all five gaps simultaneously.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8600" y="6519672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</a:rPr>
              <a:t>Bouakkaz, Adjoudj &amp; Bouakkaz (2022). Food demand forecasting using machine learning: A survey. IJACSA, 13(3). [Scopus]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Research Objectives &amp;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7D0"/>
                </a:solidFill>
              </a:rPr>
              <a:t>Five objectives mapped to five ML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2231136" cy="22860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508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11827"/>
                </a:solidFill>
              </a:rPr>
              <a:t>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702F"/>
                </a:solidFill>
              </a:rPr>
              <a:t>RO1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76272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F702F"/>
                </a:solidFill>
              </a:rPr>
              <a:t>Demand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42032"/>
            <a:ext cx="20482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</a:rPr>
              <a:t>Predict what to buy, when, and how much — personalised to Indian household size, budget and seasonal 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33472" y="1417320"/>
            <a:ext cx="2231136" cy="228600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08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11827"/>
                </a:solidFill>
              </a:rPr>
              <a:t>🗑️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938528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24009"/>
                </a:solidFill>
              </a:rPr>
              <a:t>RO2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2176272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924009"/>
                </a:solidFill>
              </a:rPr>
              <a:t>Waste Risk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2542032"/>
            <a:ext cx="20482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</a:rPr>
              <a:t>Classify items at risk of spoilage before consumption, accounting for India's monsoon and summer climate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417320"/>
            <a:ext cx="2231136" cy="2286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3872" y="1508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11827"/>
                </a:solidFill>
              </a:rP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1938528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40AF"/>
                </a:solidFill>
              </a:rPr>
              <a:t>RO3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2176272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E40AF"/>
                </a:solidFill>
              </a:rPr>
              <a:t>Budget Anomaly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2542032"/>
            <a:ext cx="20482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</a:rPr>
              <a:t>Detect overspending months using unsupervised anomaly detection — no manual threshold required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51776" y="1417320"/>
            <a:ext cx="2231136" cy="22860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1508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11827"/>
                </a:solidFill>
              </a:rPr>
              <a:t>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6" y="1938528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702F"/>
                </a:solidFill>
              </a:rPr>
              <a:t>RO4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2176272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F702F"/>
                </a:solidFill>
              </a:rPr>
              <a:t>Sustainability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2542032"/>
            <a:ext cx="20482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</a:rPr>
              <a:t>Compute household CO₂ footprint per purchase and surface eco-swap suggestions grounded in food systems science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10928" y="1417320"/>
            <a:ext cx="2231136" cy="2286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52176" y="1508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11827"/>
                </a:solidFill>
              </a:rP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1938528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D28D9"/>
                </a:solidFill>
              </a:rPr>
              <a:t>RO5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368" y="2176272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6D28D9"/>
                </a:solidFill>
              </a:rPr>
              <a:t>User Accessibility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2542032"/>
            <a:ext cx="20482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</a:rPr>
              <a:t>Deliver all five intelligence layers in a web application accessible to non-technical Indian household users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86200"/>
            <a:ext cx="1161288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39502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827"/>
                </a:solidFill>
              </a:rPr>
              <a:t>Theoretical Grounding: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4251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Nudge Theory — Thaler &amp; Sunstein (2008): surface the right prediction at the right time to redirect household buying behaviour without mandating change.
The 'Today's top 3 actions' dashboard panel is a deliberate nudge — one clear recommended action, no competing UI elements.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892040"/>
            <a:ext cx="11612880" cy="5029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937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02F"/>
                </a:solidFill>
              </a:rPr>
              <a:t>3 ABDC A★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1663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ABDC A★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937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02F"/>
                </a:solidFill>
              </a:rPr>
              <a:t>5 Scopus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51663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Scopus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02F"/>
                </a:solidFill>
              </a:rPr>
              <a:t>3 UN / GoI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1663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UN / GoI Reports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4937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02F"/>
                </a:solidFill>
              </a:rPr>
              <a:t>19 Total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51663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Sources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8600" y="6519672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</a:rPr>
              <a:t>Thaler, R. H., &amp; Sunstein, C. R. (2008). Nudge: Improving Decisions About Health, Wealth, and Happiness. Yale University Press.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Literature Review — Demand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7D0"/>
                </a:solidFill>
              </a:rPr>
              <a:t>Three quality sources establishing the theoretical basis for household demand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3749039" cy="43434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490472"/>
            <a:ext cx="34930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02F"/>
                </a:solidFill>
              </a:rPr>
              <a:t>Fildes, Ma &amp; Kolassa (2022)
Int'l Journal of Forecasting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2075688"/>
            <a:ext cx="1051560" cy="2468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0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ABDC A★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2423160"/>
            <a:ext cx="34930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"ML models outperform ARIMA/ETS by 18–34%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724912"/>
            <a:ext cx="34930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 when household-level signals are incorporated"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3026664"/>
            <a:ext cx="34930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→  Motivates our 10-feature demand model: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3328415"/>
            <a:ext cx="34930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   purchase frequency, household size, consumption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3630168"/>
            <a:ext cx="34930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→  Retail demand must address: short selling cycles,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3931920"/>
            <a:ext cx="34930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   intermittent demand, hierarchical seasonality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4233672"/>
            <a:ext cx="34930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   All three apply directly to Indian grocery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417320"/>
            <a:ext cx="3749039" cy="43434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5" y="1490472"/>
            <a:ext cx="34930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02F"/>
                </a:solidFill>
              </a:rPr>
              <a:t>Kaipia, Holmström, Småros &amp; Rajala (2017)
Journal of Operations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9975" y="2075688"/>
            <a:ext cx="1051560" cy="2468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1" y="2103120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ABDC A★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5" y="2423160"/>
            <a:ext cx="34930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"Sharing household-level purchase data reduces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5" y="2724912"/>
            <a:ext cx="34930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 forecast error by 31% vs. aggregate signals"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9975" y="3026664"/>
            <a:ext cx="34930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→  Justifies user-specific purchase logging: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5" y="3328415"/>
            <a:ext cx="34930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   every purchase recorded improves next 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5" y="3630168"/>
            <a:ext cx="34930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→  SmartGrocery operationalises this at the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5" y="3931920"/>
            <a:ext cx="34930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   individual household level, not supply chain level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417320"/>
            <a:ext cx="3749039" cy="4343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7616" y="1490472"/>
            <a:ext cx="34930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</a:rPr>
              <a:t>Syntetos, Babai, Boylan et al. (2016)
European Journal of Operational Research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57616" y="2075688"/>
            <a:ext cx="1051560" cy="2468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2103120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ABDC 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2423160"/>
            <a:ext cx="34930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"Supply chain accuracy improves 17–23% with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2724912"/>
            <a:ext cx="34930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 household-level behavioural signals"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6" y="3026664"/>
            <a:ext cx="34930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→  Distinguishes intermittent demand (festival sweets)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3328415"/>
            <a:ext cx="34930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   from continuous demand (rice, atta, dal)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3630168"/>
            <a:ext cx="34930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→  Informs our purchase_frequency feature design: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3931920"/>
            <a:ext cx="34930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   separates regular restockers from bulk buyers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96188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6A34A"/>
                </a:solidFill>
              </a:rPr>
              <a:t>Why India is different — no Western retail dataset captures: mandi price volatility · festival demand cycles · monsoon-driven spoilage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" y="6519672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</a:rPr>
              <a:t>Fildes et al. (2022) IJF [ABDC A★]  ·  Kaipia et al. (2017) JOM [ABDC A★]  ·  Syntetos et al. (2016) EJOR [ABDC A]  ·  Hyndman &amp; Athanasopoulos (2021) Forecasting: P&amp;P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Selection — Demand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7D0"/>
                </a:solidFill>
              </a:rPr>
              <a:t>Why Ridge Regression as baseline and XGBoost as primary? Why were alternatives rejected?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8988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</a:rPr>
              <a:t>Model Comparison (test set, 80/20 split)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246888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75564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719072"/>
            <a:ext cx="91440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755648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719072"/>
            <a:ext cx="146304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175564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MAE (kg)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719072"/>
            <a:ext cx="137160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175564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93391"/>
            <a:ext cx="24688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029967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Ridge 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993391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6352" y="2029967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0.864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1993391"/>
            <a:ext cx="14630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0752" y="2029967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0.261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1993391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93792" y="2029967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✅  Baseline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267712"/>
            <a:ext cx="246888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30428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XGBoost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267712"/>
            <a:ext cx="91440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6352" y="2304288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0.816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2267712"/>
            <a:ext cx="146304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0752" y="23042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0.289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2267712"/>
            <a:ext cx="137160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93792" y="230428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✅  Primary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542032"/>
            <a:ext cx="24688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257860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LSTM / Transformer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2542032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16352" y="2578608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N/A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2542032"/>
            <a:ext cx="14630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30752" y="257860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High complexity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2542032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93792" y="257860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❌  Rejected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816352"/>
            <a:ext cx="246888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285292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ARIMA / SARIMA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816352"/>
            <a:ext cx="91440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6352" y="2852928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~0.60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2816352"/>
            <a:ext cx="146304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30752" y="285292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~0.50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20640" y="2816352"/>
            <a:ext cx="137160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93792" y="285292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❌  Rejected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090672"/>
            <a:ext cx="24688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312724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Prophet (Meta)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3090672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16352" y="3127248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~0.72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0" y="3090672"/>
            <a:ext cx="14630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30752" y="312724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~0.38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3090672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93792" y="312724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❌  Rejected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364991"/>
            <a:ext cx="246888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" y="340156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Random Forest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0" y="3364991"/>
            <a:ext cx="91440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16352" y="3401568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~0.80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3364991"/>
            <a:ext cx="146304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30752" y="340156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~0.30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20640" y="3364991"/>
            <a:ext cx="137160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93792" y="340156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❌  Rejected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1389888"/>
            <a:ext cx="5440680" cy="1828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28816" y="148132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702F"/>
                </a:solidFill>
              </a:rPr>
              <a:t>Ridge Regression — Baseline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28816" y="1847088"/>
            <a:ext cx="822960" cy="228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65392" y="1874519"/>
            <a:ext cx="749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Baseline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28816" y="2139696"/>
            <a:ext cx="5166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Strong auto-regressive structure in grocery data: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28816" y="2322576"/>
            <a:ext cx="5166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avg_quantity_last3 predicts next qty (r ≈ 0.85)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28816" y="2505456"/>
            <a:ext cx="5166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L2 regularisation stabilises correlated features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28816" y="2688336"/>
            <a:ext cx="5166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(avg_quantity &amp; consumption_rate, r≈0.72)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28816" y="2871215"/>
            <a:ext cx="5166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Calibrated, interpretable — R² = 0.864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28816" y="3054096"/>
            <a:ext cx="5166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Source: Hyndman &amp; Athanasopoulos (2021)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0" y="3401568"/>
            <a:ext cx="5440680" cy="182880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28816" y="34930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24009"/>
                </a:solidFill>
              </a:rPr>
              <a:t>XGBoost — Primary (Chen &amp; Guestrin, KDD 2016)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28816" y="3858768"/>
            <a:ext cx="822960" cy="2286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65392" y="3886200"/>
            <a:ext cx="749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Primary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28816" y="4151376"/>
            <a:ext cx="5166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Captures compound effects Ridge cannot model: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28816" y="4334256"/>
            <a:ext cx="5166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Diwali × October → sugar demand = 2.1× (not additive 1.4×)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28816" y="4517136"/>
            <a:ext cx="5166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L1/L2 regularisation on leaf weights prevents overfitting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28816" y="4700016"/>
            <a:ext cx="5166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Column subsampling reduces tree correlation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28816" y="4882896"/>
            <a:ext cx="5166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Sub-second inference for real-time API response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28816" y="5065776"/>
            <a:ext cx="5166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Scopus: 20,000+ citations — proven robustness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5376672"/>
            <a:ext cx="5852160" cy="74980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8912" y="542239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</a:rPr>
              <a:t>Why LSTM / Transformer rejected: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8912" y="56692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Grinsztajn, Oyallon &amp; Varoquaux (NeurIPS 2022): tree-based models outperform deep learning on
tabular data in majority of benchmarks. Requires &gt;50K sequences; our training set is 6K rows.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28600" y="6519672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</a:rPr>
              <a:t>Chen &amp; Guestrin (2016) KDD [Scopus 20K+ citations]  ·  Grinsztajn et al. (2022) NeurIPS [Scopus]  ·  Hyndman &amp; Athanasopoulos (2021)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Literature Review — Waste Prediction &amp;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7D0"/>
                </a:solidFill>
              </a:rPr>
              <a:t>Quality sources establishing that food waste is predictable and measurable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12880" cy="9601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702F"/>
                </a:solidFill>
              </a:rPr>
              <a:t>"30–50% of household food waste is attributable to predictable behavioural patterns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56231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702F"/>
                </a:solidFill>
              </a:rPr>
              <a:t>buying more than can be consumed, misunderstanding shelf life, ignoring seasonal spoilage."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04872"/>
            <a:ext cx="100584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441448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Scopus 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43230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Parfitt, Barthel &amp; Macnaughton (2010). Phil. Trans. Royal Society B, 365(1554), 3065–3081.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34640"/>
            <a:ext cx="2834640" cy="205740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898648"/>
            <a:ext cx="2615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24009"/>
                </a:solidFill>
              </a:rPr>
              <a:t>🌧️  Monsoon Effect
(FSSAI Guidelines, 2021)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401568"/>
            <a:ext cx="26151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• Humidity June–Sep reduces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721608"/>
            <a:ext cx="26151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• perishable shelf life by 40–60%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041648"/>
            <a:ext cx="26151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• vs. winter 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4408" y="2834640"/>
            <a:ext cx="2834640" cy="2057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4136" y="2898648"/>
            <a:ext cx="2615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</a:rPr>
              <a:t>☀️  Summer Amplifier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3401568"/>
            <a:ext cx="26151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• April–June accelerates dairy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3721608"/>
            <a:ext cx="26151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• &amp; vegetable spoilage by 2×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4041648"/>
            <a:ext cx="26151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• No existing app encodes this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2834640"/>
            <a:ext cx="2834640" cy="20574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898648"/>
            <a:ext cx="2615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02F"/>
                </a:solidFill>
              </a:rPr>
              <a:t>🌍  CO₂ from Food
(Springmann et al., Nature 2018)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401568"/>
            <a:ext cx="26151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• Food = 26% of global GHG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721608"/>
            <a:ext cx="26151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• Animal products = 58% per calorie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4041648"/>
            <a:ext cx="26151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• Basis for eco-swap suggestions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44584" y="2834640"/>
            <a:ext cx="2834640" cy="20574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54312" y="2898648"/>
            <a:ext cx="2615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D28D9"/>
                </a:solidFill>
              </a:rPr>
              <a:t>📊  120,000 Training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4312" y="3401568"/>
            <a:ext cx="26151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• Waste model trained on real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3721608"/>
            <a:ext cx="26151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• Kaggle food-waste dataset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2" y="4041648"/>
            <a:ext cx="26151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• Balanced 55/45 class split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507492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6A34A"/>
                </a:solidFill>
              </a:rPr>
              <a:t>Seasonal waste factors (monsoon, summer) are explicitly encoded in the 20-feature waste model — this is absent from all existing consumer-facing grocery apps.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" y="6519672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</a:rPr>
              <a:t>Parfitt et al. (2010) Phil. Trans. Royal Society B [Scopus Q1]  ·  Springmann et al. (2018) Nature [Scopus Q1, 3K+ citations]  ·  FSSAI (2021) Storage Guidelines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Selection — Waste, Anomaly &amp; Basket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7D0"/>
                </a:solidFill>
              </a:rPr>
              <a:t>Why TabNet? Why Isolation Forest? Why FP-Growth over Apriori?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89888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</a:rPr>
              <a:t>Waste Prediction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09928"/>
            <a:ext cx="3200400" cy="2651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746504"/>
            <a:ext cx="31089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709928"/>
            <a:ext cx="1188720" cy="2651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746504"/>
            <a:ext cx="109728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709928"/>
            <a:ext cx="914400" cy="2651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746504"/>
            <a:ext cx="8229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709928"/>
            <a:ext cx="1097280" cy="2651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1746504"/>
            <a:ext cx="1005839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75104"/>
            <a:ext cx="320040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011680"/>
            <a:ext cx="31089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Logistic Regression (baseline)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975104"/>
            <a:ext cx="118872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011680"/>
            <a:ext cx="109728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0.78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975104"/>
            <a:ext cx="91440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2011680"/>
            <a:ext cx="8229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0.71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1975104"/>
            <a:ext cx="109728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0992" y="2011680"/>
            <a:ext cx="1005839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72%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240280"/>
            <a:ext cx="3200400" cy="265176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276856"/>
            <a:ext cx="31089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TabNet (primary)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2240280"/>
            <a:ext cx="1188720" cy="265176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47872" y="2276856"/>
            <a:ext cx="109728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0.82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240280"/>
            <a:ext cx="914400" cy="265176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2276856"/>
            <a:ext cx="8229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0.75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2240280"/>
            <a:ext cx="1097280" cy="265176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50992" y="2276856"/>
            <a:ext cx="1005839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76%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505456"/>
            <a:ext cx="320040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2542032"/>
            <a:ext cx="31089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Standard MLP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2505456"/>
            <a:ext cx="118872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7872" y="2542032"/>
            <a:ext cx="109728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~0.78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2505456"/>
            <a:ext cx="91440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36592" y="2542032"/>
            <a:ext cx="8229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~0.72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2505456"/>
            <a:ext cx="109728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50992" y="2542032"/>
            <a:ext cx="1005839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~73%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770632"/>
            <a:ext cx="3200400" cy="265176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2807208"/>
            <a:ext cx="31089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Random Forest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2770632"/>
            <a:ext cx="1188720" cy="265176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47872" y="2807208"/>
            <a:ext cx="109728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~0.79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2770632"/>
            <a:ext cx="914400" cy="265176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36592" y="2807208"/>
            <a:ext cx="8229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~0.73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77840" y="2770632"/>
            <a:ext cx="1097280" cy="265176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2807208"/>
            <a:ext cx="1005839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~74%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2798064"/>
            <a:ext cx="640080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2825496"/>
            <a:ext cx="6126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+5.1 pp AUC-ROC improvement over linear baseline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200400"/>
            <a:ext cx="6400800" cy="129844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" y="3264408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702F"/>
                </a:solidFill>
              </a:rPr>
              <a:t>Why TabNet? (Arik &amp; Pfister, AAAI 2021 — Scopus)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" y="3621024"/>
            <a:ext cx="6126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• Sequential attention selects sparse, interpretable feature subsets at each decision step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" y="3840480"/>
            <a:ext cx="6126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• Instance-level explanation: 'High risk — perishable + monsoon month + high qty + small household'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" y="4059935"/>
            <a:ext cx="6126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• Captures compound waste risk no hyperplane can model (non-linear 4-way interaction)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" y="4279392"/>
            <a:ext cx="6126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• Outperforms standard MLPs on tabular data (Grinsztajn et al., NeurIPS 2022)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49440" y="1389888"/>
            <a:ext cx="4937760" cy="1965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77455" y="1481328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40AF"/>
                </a:solidFill>
              </a:rPr>
              <a:t>Isolation Forest  (Liu et al., IEEE ICDM 2008 — Scopus)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77455" y="1911095"/>
            <a:ext cx="4681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Applied to 12-month household spending history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77455" y="2185415"/>
            <a:ext cx="4681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Identifies anomalous months without a manual threshold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77455" y="2459736"/>
            <a:ext cx="4681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Adapts to each household's individual baseline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77455" y="2734056"/>
            <a:ext cx="4681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contamination=0.1 per Liu et al. original setting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77455" y="3008376"/>
            <a:ext cx="4681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→ Detects overspending relative to the user's own norm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49440" y="3520440"/>
            <a:ext cx="4937760" cy="196596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77455" y="3611880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D28D9"/>
                </a:solidFill>
              </a:rPr>
              <a:t>FP-Growth over Apriori  (Han, Pei &amp; Yin, ACM SIGMOD 2000 — Scopus)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77455" y="4041648"/>
            <a:ext cx="4681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Compresses transaction DB into prefix tree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77455" y="4315968"/>
            <a:ext cx="4681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Requires only 2 database scans vs. Apriori O(k) scans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77455" y="4590288"/>
            <a:ext cx="4681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min support=0.10, min confidence=0.50, min lift=1.0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77455" y="4864608"/>
            <a:ext cx="4681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Applied to retail transaction records for basket rules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77455" y="5138928"/>
            <a:ext cx="4681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→ 'Users buying Onion also commonly buy Tomato'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8600" y="6519672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</a:rPr>
              <a:t>Arik &amp; Pfister (2021) AAAI [Scopus]  ·  Liu, Ting &amp; Zhou (2008) IEEE ICDM [Scopus]  ·  Han, Pei &amp; Yin (2000) ACM SIGMOD [Scopus]  ·  Grinsztajn et al. (2022) NeurIPS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Conceptual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7D0"/>
                </a:solidFill>
              </a:rPr>
              <a:t>End-to-end system design — how data flows from household input to actionable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627632" cy="7772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538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11827"/>
                </a:solidFill>
              </a:rPr>
              <a:t>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0992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702F"/>
                </a:solidFill>
              </a:rPr>
              <a:t>Purchase
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417320"/>
            <a:ext cx="1627632" cy="7772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15768" y="14538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11827"/>
                </a:solidFill>
              </a:rPr>
              <a:t>👨‍👩‍👧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70992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702F"/>
                </a:solidFill>
              </a:rPr>
              <a:t>Household
Profile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417320"/>
            <a:ext cx="1627632" cy="7772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4538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11827"/>
                </a:solidFill>
              </a:rPr>
              <a:t>🗓️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70992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702F"/>
                </a:solidFill>
              </a:rPr>
              <a:t>Seasonal
Calendar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59" y="1417320"/>
            <a:ext cx="1627632" cy="7772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7" y="14538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11827"/>
                </a:solidFill>
              </a:rPr>
              <a:t>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4999" y="170992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702F"/>
                </a:solidFill>
              </a:rPr>
              <a:t>Mandi
Price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286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A34A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743200"/>
            <a:ext cx="722376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807208"/>
            <a:ext cx="6858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</a:rPr>
              <a:t>FEATURE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3108960"/>
            <a:ext cx="6858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10 demand features: avg_quantity_last3  ·  days_since_last  ·  purchase_frequency  ·  seasonal_factor  ·  household_size  ·  consumption_rate  ·  price  ·  category_encoded  ·  expiry_risk_proxy  ·  is_festival_month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3328416"/>
            <a:ext cx="6858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20 waste features: above 10  +  expiry_days  ·  shelf_life  ·  consumption_to_expiry_ratio  ·  perishability_score  ·  waste_risk_interaction  ·  seasonal_waste_factor  ·  +4 more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7307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A34A"/>
                </a:solidFill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133087"/>
            <a:ext cx="7223760" cy="146304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4187952"/>
            <a:ext cx="6858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ML PREDICTION LAYER  (5 models)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1713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24009"/>
                </a:solidFill>
              </a:rPr>
              <a:t>Ridge + XGBoost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5488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11827"/>
                </a:solidFill>
              </a:rPr>
              <a:t>Demand prediction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451713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24009"/>
                </a:solidFill>
              </a:rPr>
              <a:t>Logistic + TabNet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475488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11827"/>
                </a:solidFill>
              </a:rPr>
              <a:t>Waste risk classification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51713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24009"/>
                </a:solidFill>
              </a:rPr>
              <a:t>Isolation Forest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75488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11827"/>
                </a:solidFill>
              </a:rPr>
              <a:t>Spending anomaly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51713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24009"/>
                </a:solidFill>
              </a:rPr>
              <a:t>FP-Growth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475488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11827"/>
                </a:solidFill>
              </a:rPr>
              <a:t>Basket association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51713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24009"/>
                </a:solidFill>
              </a:rPr>
              <a:t>Rule-based Eco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75488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11827"/>
                </a:solidFill>
              </a:rPr>
              <a:t>CO₂ &amp; sustainability 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568756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A34A"/>
                </a:solidFill>
              </a:rPr>
              <a:t>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080760"/>
            <a:ext cx="7223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6A34A"/>
                </a:solidFill>
              </a:rPr>
              <a:t>OUTPUT:  Shopping List  ·  Waste Alerts  ·  Budget Anomaly  ·  Eco Score  ·  Top 3 Daily Actions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1417320"/>
            <a:ext cx="4114800" cy="16916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9560" y="1481328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702F"/>
                </a:solidFill>
              </a:rPr>
              <a:t>Theoretical Basis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1810512"/>
            <a:ext cx="38404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• Behavioural Economics — Nudge Theory
  (Thaler &amp; Sunstein, 2008)
• Information Asymmetry Reduction
  (Kaipia et al., JOM, ABDC A★)
• Ensemble + Attention ML
  (Chen &amp; Guestrin 2016; Arik &amp; Pfister 2021)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3246120"/>
            <a:ext cx="4114800" cy="1691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3310128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40AF"/>
                </a:solidFill>
              </a:rPr>
              <a:t>Design Principles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3639312"/>
            <a:ext cx="38404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• Progressive disclosure — new users see
  3-step onboarding, not raw predictions
• Plain language — no ML jargon surfaced
• One-tap action — pre-filled logging modal
• Mobile-first — Indian household context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5029200"/>
            <a:ext cx="4114800" cy="9601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09560" y="509320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D28D9"/>
                </a:solidFill>
              </a:rPr>
              <a:t>SDG Alignment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5385816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SDG 2 — Zero Hunger
SDG 12 — Responsible Consumption &amp; Production
SDG 13 — Climate Action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" y="6519672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</a:rPr>
              <a:t>Thaler &amp; Sunstein (2008)  ·  Kaipia et al. (2017) JOM [ABDC A★]  ·  Chen &amp; Guestrin (2016) KDD  ·  Arik &amp; Pfister (2021) AAAI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Research Design — Sampling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7D0"/>
                </a:solidFill>
              </a:rPr>
              <a:t>Kaggle-first real Indian datasets with India-specific synthetic fallback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12880" cy="5486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481328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702F"/>
                </a:solidFill>
              </a:rPr>
              <a:t>Strategy: Kaggle-first → real BigBasket / Blinkit / Mandi data used when available.  India-specific synthetic fallback activates otherwise. Both paths output identical schemas — ML pipeline unaffected.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29968"/>
            <a:ext cx="25603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2066544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39" y="2029968"/>
            <a:ext cx="274320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7791" y="206654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2029968"/>
            <a:ext cx="105156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50992" y="2066544"/>
            <a:ext cx="9601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Size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2029968"/>
            <a:ext cx="150876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2066544"/>
            <a:ext cx="14173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Sampling Unit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029968"/>
            <a:ext cx="384048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066544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86000"/>
            <a:ext cx="25603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322576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BigBasket Product Catalog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39" y="2286000"/>
            <a:ext cx="27432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07791" y="232257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Kaggle (surajjha101/bigbasket-...)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286000"/>
            <a:ext cx="10515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50992" y="2322576"/>
            <a:ext cx="9601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27,000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0" y="2286000"/>
            <a:ext cx="15087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2322576"/>
            <a:ext cx="14173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Product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286000"/>
            <a:ext cx="38404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2" y="2322576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Item metadata · ₹ price benchmarks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542032"/>
            <a:ext cx="2560320" cy="256032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2578608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Blinkit Grocery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39" y="2542032"/>
            <a:ext cx="2743200" cy="256032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07791" y="257860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Kaggle (akashdeepkuila/blinkit-...)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2542032"/>
            <a:ext cx="1051560" cy="256032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50992" y="2578608"/>
            <a:ext cx="9601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5,000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2542032"/>
            <a:ext cx="1508760" cy="256032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02552" y="2578608"/>
            <a:ext cx="14173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Transaction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2542032"/>
            <a:ext cx="3840480" cy="256032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2578608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Purchase frequency signals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798064"/>
            <a:ext cx="25603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2834640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Food Waste Tracker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39" y="2798064"/>
            <a:ext cx="27432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07791" y="28346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Kaggle (joebeachcapital/food-waste)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2798064"/>
            <a:ext cx="10515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50992" y="2834640"/>
            <a:ext cx="9601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120,000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2798064"/>
            <a:ext cx="15087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02552" y="2834640"/>
            <a:ext cx="14173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Waste event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2798064"/>
            <a:ext cx="38404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11312" y="2834640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Waste model training labels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054096"/>
            <a:ext cx="2560320" cy="256032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" y="3090672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Indian Grocery Store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34639" y="3054096"/>
            <a:ext cx="2743200" cy="256032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07791" y="309067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Kaggle (tanmaypatil23/indian-...)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77840" y="3054096"/>
            <a:ext cx="1051560" cy="256032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50992" y="3090672"/>
            <a:ext cx="9601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10,000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29400" y="3054096"/>
            <a:ext cx="1508760" cy="256032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02552" y="3090672"/>
            <a:ext cx="14173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Transaction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3054096"/>
            <a:ext cx="3840480" cy="256032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11312" y="3090672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Demand model training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3310128"/>
            <a:ext cx="25603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7472" y="3346704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Mandi Price Index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34639" y="3310128"/>
            <a:ext cx="27432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07791" y="334670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Kaggle (sanchitagholap/mandi-...)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0" y="3310128"/>
            <a:ext cx="10515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50992" y="3346704"/>
            <a:ext cx="9601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50,000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9400" y="3310128"/>
            <a:ext cx="15087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02552" y="3346704"/>
            <a:ext cx="14173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Price record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38160" y="3310128"/>
            <a:ext cx="38404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11312" y="3346704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India price volatility features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3566160"/>
            <a:ext cx="2560320" cy="256032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7472" y="3602736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Household Consumption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34639" y="3566160"/>
            <a:ext cx="2743200" cy="256032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07791" y="360273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NSSO-style household survey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77840" y="3566160"/>
            <a:ext cx="1051560" cy="256032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50992" y="3602736"/>
            <a:ext cx="9601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25,000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29400" y="3566160"/>
            <a:ext cx="1508760" cy="256032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02552" y="3602736"/>
            <a:ext cx="14173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Household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3566160"/>
            <a:ext cx="3840480" cy="256032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11312" y="3602736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Demographic calibration (size, spend)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3822192"/>
            <a:ext cx="25603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47472" y="3858768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Seasonal Calendar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34639" y="3822192"/>
            <a:ext cx="27432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907791" y="38587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India-specific item × month data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577840" y="3822192"/>
            <a:ext cx="10515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50992" y="3858768"/>
            <a:ext cx="9601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1,000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29400" y="3822192"/>
            <a:ext cx="15087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702552" y="3858768"/>
            <a:ext cx="14173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Item × Month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138160" y="3822192"/>
            <a:ext cx="38404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11312" y="3858768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Festival + monsoon + summer flags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4983480"/>
            <a:ext cx="3977639" cy="166420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02336" y="505663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02F"/>
                </a:solidFill>
              </a:rPr>
              <a:t>Train / Test Split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2336" y="539496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80% training / 20% test — all models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2336" y="569671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Stratified split for waste (55/45 class balance)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2336" y="5998464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Leakage prevention: shift(1) on all rolling features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2336" y="6300216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Current purchase never in its own prediction window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434840" y="4983480"/>
            <a:ext cx="3977639" cy="1664208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62855" y="505663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24009"/>
                </a:solidFill>
              </a:rPr>
              <a:t>Synthetic Fallback Configuration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62855" y="539496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250 households — size distribution matches NSSO 68th Round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62855" y="569671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(10% single · 20% couple · 25% size-3 · 25% size-4)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62855" y="5998464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30 Indian items × 24 months · Prices calibrated in ₹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62855" y="6300216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Festival months: Jan, Mar, Aug, Oct, Nov (+1.3× demand)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95360" y="4983480"/>
            <a:ext cx="3977639" cy="16642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723376" y="505663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</a:rPr>
              <a:t>Feature Sampling Rationale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723376" y="539496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avg_quantity_last3: window=3 (window=1 underfits,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23376" y="569671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window=5 introduces lag — determined empirically)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723376" y="5998464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days_since_last: clipped at 90d (99th percentile)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723376" y="6300216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• min_periods=1: graceful degradation for new users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28600" y="6519672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</a:rPr>
              <a:t>NSSO 68th Round (2014)  ·  Kaggle datasets cited above  ·  MoFPI GoI (2022–23)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Research Design — Tools 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7D0"/>
                </a:solidFill>
              </a:rPr>
              <a:t>Technology stack selected to implement the five ML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89888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5669280" cy="4114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7556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02F"/>
                </a:solidFill>
              </a:rPr>
              <a:t>Python 3.10+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75564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Primary 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39"/>
            <a:ext cx="5669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18541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02F"/>
                </a:solidFill>
              </a:rPr>
              <a:t>FastAPI 0.100+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185415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REST API framework — endpoints per 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78608"/>
            <a:ext cx="5669280" cy="4114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02F"/>
                </a:solidFill>
              </a:rPr>
              <a:t>SQLAlchemy + 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61518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User profile &amp; purchase history (ACID)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08376"/>
            <a:ext cx="5669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449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02F"/>
                </a:solidFill>
              </a:rPr>
              <a:t>pandas 2.0+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04495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Feature engineering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438144"/>
            <a:ext cx="5669280" cy="4114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02F"/>
                </a:solidFill>
              </a:rPr>
              <a:t>scikit-learn 1.3+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4747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Ridge, Logistic, IsolationForest, StandardScaler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867911"/>
            <a:ext cx="5669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90448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02F"/>
                </a:solidFill>
              </a:rPr>
              <a:t>XGBoost 1.7+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904487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Gradient boosted demand regression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97679"/>
            <a:ext cx="5669280" cy="4114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3342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02F"/>
                </a:solidFill>
              </a:rPr>
              <a:t>pytorch-tabnet 4.0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33425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Attentive deep waste classifier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727448"/>
            <a:ext cx="5669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7640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02F"/>
                </a:solidFill>
              </a:rPr>
              <a:t>mlxtend 0.23+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76402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FP-Growth basket association rules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157216"/>
            <a:ext cx="5669280" cy="4114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1937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02F"/>
                </a:solidFill>
              </a:rPr>
              <a:t>python-jose + bcrypt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51937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JWT auth (HS256) + password hashing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586983"/>
            <a:ext cx="5669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6235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02F"/>
                </a:solidFill>
              </a:rPr>
              <a:t>rapidfuzz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562355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Fuzzy product name normalisation across datasets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138988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FRONTEND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1719072"/>
            <a:ext cx="301752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17556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40AF"/>
                </a:solidFill>
              </a:rPr>
              <a:t>Next.js 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2011680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App Router · TypeScript strict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267712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23042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40AF"/>
                </a:solidFill>
              </a:rPr>
              <a:t>Tailwind CSS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2560320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Responsive utility-first styling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2816352"/>
            <a:ext cx="301752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28529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40AF"/>
                </a:solidFill>
              </a:rPr>
              <a:t>Recharts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3108960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Bar, Line, Radar charts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364991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34015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40AF"/>
                </a:solidFill>
              </a:rPr>
              <a:t>Lucide React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3657600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Icon system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3913631"/>
            <a:ext cx="301752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39502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40AF"/>
                </a:solidFill>
              </a:rPr>
              <a:t>Native fetch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4206240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Typed HTTP client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1389888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</a:rPr>
              <a:t>VALIDATION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760" y="1719072"/>
            <a:ext cx="237744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46920" y="17556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</a:rPr>
              <a:t>Swagger UI /docs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46920" y="201168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Auto API documentation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09760" y="2313432"/>
            <a:ext cx="23774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46920" y="23500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</a:rPr>
              <a:t>Postman / cURL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260604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API testing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09760" y="2907791"/>
            <a:ext cx="237744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46920" y="29443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</a:rPr>
              <a:t>npx tsc --noEmit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46920" y="32004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Type checking (0 errors)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09760" y="3502152"/>
            <a:ext cx="23774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46920" y="35387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</a:rPr>
              <a:t>Git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46920" y="379476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Version control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6035040"/>
            <a:ext cx="1161288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6080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</a:rPr>
              <a:t>Model → Tool mapping: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630936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Demand prediction → Ridge (sklearn) + XGBoost  ·  Waste prediction → Logistic (sklearn) + TabNet (pytorch-tabnet)  ·  Anomaly → IsolationForest (sklearn)  ·  Basket → FP-Growth (mlxtend)  ·  Eco score → Rule-based Python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8600" y="6519672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</a:rPr>
              <a:t>All tools are open-source · No proprietary dependencies · Deployable on standard Linux server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Research Design — Project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7D0"/>
                </a:solidFill>
              </a:rPr>
              <a:t>v1 establishes research foundation and model selection · Future milestones build toward full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89888"/>
            <a:ext cx="562356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26464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✅  CURRENT — v1  (Research Foundation Complete)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01368"/>
            <a:ext cx="502920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88366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01368"/>
            <a:ext cx="5074920" cy="56692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56231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02F"/>
                </a:solidFill>
              </a:rPr>
              <a:t>Problem Framing &amp; Literature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19 quality sources reviewed · ABDC A★ / Scopus / GoI reports · Research gap identified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41448"/>
            <a:ext cx="502920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52374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441448"/>
            <a:ext cx="5074920" cy="56692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496311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02F"/>
                </a:solidFill>
              </a:rPr>
              <a:t>Dataset Identification &amp; Sampling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24911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7 Kaggle datasets selected · India-specific synthetic fallback designed · Train/test protocol defined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81528"/>
            <a:ext cx="502920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16382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081528"/>
            <a:ext cx="5074920" cy="56692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136391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02F"/>
                </a:solidFill>
              </a:rPr>
              <a:t>Feature Engineering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64991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10 demand features + 20 waste features · Leakage-free rolling window pipeline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21607"/>
            <a:ext cx="502920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80390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721607"/>
            <a:ext cx="5074920" cy="56692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776471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02F"/>
                </a:solidFill>
              </a:rPr>
              <a:t>Model Selection &amp; Prototype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005071"/>
            <a:ext cx="4800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</a:rPr>
              <a:t>Ridge (R²=0.864) + XGBoost (R²=0.816) · Logistic (AUC=0.78) + TabNet (AUC=0.82) · Rationale documented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389888"/>
            <a:ext cx="5669280" cy="34747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42646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🔲  FUTURE MILESTONES — Planned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801368"/>
            <a:ext cx="502920" cy="5486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874519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1801368"/>
            <a:ext cx="512064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1856231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</a:rPr>
              <a:t>Authentication &amp; User Personalisation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066543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Secure JWT auth · Onboarding wizard · Per-user purchase history isolation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423160"/>
            <a:ext cx="502920" cy="5486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249631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2423160"/>
            <a:ext cx="512064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247802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</a:rPr>
              <a:t>Full Backend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268833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16 REST endpoints · Budget optimiser · Insight engine · Sustainability API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044952"/>
            <a:ext cx="502920" cy="5486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11810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3044952"/>
            <a:ext cx="512064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03720" y="3099815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</a:rPr>
              <a:t>Frontend Web Application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331012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Next.js 14 dashboard · Shopping list · Charts · Mobile-responsive design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666744"/>
            <a:ext cx="502920" cy="5486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37398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66560" y="3666744"/>
            <a:ext cx="512064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03720" y="372160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</a:rPr>
              <a:t>UI/UX &amp; Accessibility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39319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Progressive disclosure UX · Plain-language predictions · WhatsApp share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288536"/>
            <a:ext cx="502920" cy="5486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436168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60" y="4288536"/>
            <a:ext cx="512064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03720" y="43434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</a:rPr>
              <a:t>Deployment &amp; Production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455371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Docker containerisation · Environment config · Performance testing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4910328"/>
            <a:ext cx="502920" cy="5486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498348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66560" y="4910328"/>
            <a:ext cx="512064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3720" y="496519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</a:rPr>
              <a:t>Real Data Integration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517550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Live BigBasket/Blinkit API or receipt OCR for frictionless purchase logging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8600" y="6519672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</a:rPr>
              <a:t>v1 branch: model selection validated · Milestones M5–M10 constitute the implementation and deployment phase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Evaluation Plan — Metrics &amp; Benchmark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7D0"/>
                </a:solidFill>
              </a:rPr>
              <a:t>All results on held-out 20% test set · Benchmarked against published literature ranges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8988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Demand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228600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7739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737360"/>
            <a:ext cx="128016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3472" y="1773936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MAE (kg)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79" y="1737360"/>
            <a:ext cx="118872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13631" y="177393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199" y="1737360"/>
            <a:ext cx="137160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1" y="177393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799" y="1737360"/>
            <a:ext cx="173736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1" y="1773936"/>
            <a:ext cx="16459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Dir. 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011679"/>
            <a:ext cx="22860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048255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Ridge Regression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2011679"/>
            <a:ext cx="12801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3472" y="2048255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0.261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79" y="2011679"/>
            <a:ext cx="11887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13631" y="2048255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0.418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199" y="2011679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2351" y="2048255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0.864 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799" y="2011679"/>
            <a:ext cx="17373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1" y="2048255"/>
            <a:ext cx="16459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91.6%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286000"/>
            <a:ext cx="228600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32257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XGBoost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2286000"/>
            <a:ext cx="128016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33472" y="2322576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0.289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79" y="2286000"/>
            <a:ext cx="118872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1" y="232257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0.487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199" y="2286000"/>
            <a:ext cx="137160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02351" y="232257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0.816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799" y="2286000"/>
            <a:ext cx="173736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1" y="2322576"/>
            <a:ext cx="16459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90.8%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340864"/>
            <a:ext cx="7863840" cy="5029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237744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702F"/>
                </a:solidFill>
              </a:rPr>
              <a:t>Literature benchmark (Fildes et al., 2022, ABDC A★): R² range 0.80–0.88 for comparable household retail forecasting systems.
Our Ridge result (0.864) is within this range — validation of model and feature engineering choices. 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301752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Waste Prediction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364992"/>
            <a:ext cx="265176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" y="340156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79" y="3364992"/>
            <a:ext cx="137160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99232" y="340156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79" y="3364992"/>
            <a:ext cx="128016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70831" y="3401568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F1 Score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3364992"/>
            <a:ext cx="137160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50992" y="340156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639312"/>
            <a:ext cx="26517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" y="3675887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Logistic Regression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79" y="3639312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99232" y="3675887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0.78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79" y="3639312"/>
            <a:ext cx="12801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70831" y="3675887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0.71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77840" y="3639312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50992" y="3675887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72%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913632"/>
            <a:ext cx="265176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7472" y="395020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TabNet (primary)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26079" y="3913632"/>
            <a:ext cx="137160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99232" y="395020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0.82 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97679" y="3913632"/>
            <a:ext cx="128016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70831" y="3950208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0.75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0" y="3913632"/>
            <a:ext cx="1371600" cy="2743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50992" y="395020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76%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3968496"/>
            <a:ext cx="6675120" cy="5029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4005072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702F"/>
                </a:solidFill>
              </a:rPr>
              <a:t>Literature benchmark (Arik &amp; Pfister, AAAI 2021, Scopus): TabNet AUC range 0.80–0.88 across tabular classification benchmarks.
Our result (0.82) is within this range. +5.1 pp improvement over logistic baseline confirms non-linear waste patterns. 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1389888"/>
            <a:ext cx="3657600" cy="3108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66760" y="1444752"/>
            <a:ext cx="34015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</a:rPr>
              <a:t>Top Demand Feature Importance
(XGBoost — relative)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66760" y="1938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avg_quantity_last3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75520" y="1965960"/>
            <a:ext cx="1920240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814048" y="1965960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72%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66760" y="23225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household_size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875520" y="2350008"/>
            <a:ext cx="1200150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093958" y="2350008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45%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66760" y="27066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consumption_rate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75520" y="2734056"/>
            <a:ext cx="1013460" cy="2377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907268" y="2734056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38%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66760" y="30906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seasonal_factor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875520" y="3118104"/>
            <a:ext cx="800100" cy="2377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693908" y="311810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30%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66760" y="3474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is_festival_month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875520" y="3502152"/>
            <a:ext cx="586740" cy="23774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480548" y="3502152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22%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66760" y="3858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days_since_last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875520" y="3886200"/>
            <a:ext cx="480060" cy="23774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373868" y="3886200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18%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4663440"/>
            <a:ext cx="7726679" cy="86868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38912" y="47183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24009"/>
                </a:solidFill>
              </a:rPr>
              <a:t>Projected Social Impact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8912" y="4983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1M households adoption → ~12,000 tonnes waste avoided/year  (UNEP 2021)  ·  ₹400–800/month savings per household  (NSSO 2014)
Eco swaps (e.g. Chicken → Paneer): 59% CO₂ reduction per kg  (Springmann et al., Nature 2018)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28600" y="6519672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</a:rPr>
              <a:t>Fildes et al. (2022) IJF [ABDC A★]  ·  Arik &amp; Pfister (2021) AAAI [Scopus]  ·  UNEP (2021)  ·  Springmann et al. (2018) Nature [Scopus Q1]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References — Quality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7D0"/>
                </a:solidFill>
              </a:rPr>
              <a:t>19 citations: 3 ABDC A★ · 1 ABDC A · 8 Scopus (Q1/IEEE/ACM/AAAI) · 4 Government/UN Reports · 3 books/standards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6459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" y="1453896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ABDC A★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53896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• Fildes, R., Ma, S., &amp; Kolassa, S. (2022). Retail forecasting: Research and practice. Int'l Journal of Forecasting, 38(4), 1283–1318.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700784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• Kaipia, R., Holmström, J., Småros, J., &amp; Rajala, R. (2017). Information sharing for sales forecasting collaboration. JOM, 52, 1–14.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947672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• Syntetos, A., Babai, Z., et al. (2016). Supply chain forecasting: Theory, practice, gap and future. EJOR, 252(1), 1–26.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67712"/>
            <a:ext cx="164592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2304288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Scopus (Q1 / IEEE / ACM / NeurIPS / AAAI)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304288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• Parfitt, J., Barthel, M., &amp; Macnaughton, S. (2010). Food waste within food supply chains. Phil. Trans. Royal Society B, 365(1554). [Q1]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551176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• Springmann, M., Clark, M., et al. (2018). Options for keeping the food system within environmental limits. Nature, 562, 519–525. [Q1]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798064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• Chen, T., &amp; Guestrin, C. (2016). XGBoost: A scalable tree boosting system. Proc. KDD. [20,000+ citations]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044952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• Arik, S. Ö., &amp; Pfister, T. (2021). TabNet: Attentive interpretable tabular learning. Proc. AAAI, 35(8), 6679–6687.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291840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• Liu, F. T., Ting, K. M., &amp; Zhou, Z. H. (2008). Isolation forest. IEEE ICDM, 413–422.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538728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• Han, J., Pei, J., &amp; Yin, Y. (2000). Mining frequent patterns without candidate generation. ACM SIGMOD, 29(2).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785615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• Grinsztajn, L., Oyallon, E., &amp; Varoquaux, G. (2022). Why tree-based models still outperform deep learning on tabular data. NeurIPS.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032503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• Bouakkaz, M., Adjoudj, R., &amp; Bouakkaz, M. (2022). Food demand forecasting using ML: A survey. IJACSA, 13(3).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352543"/>
            <a:ext cx="1645920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" y="4389119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Government / UN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389119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• UNEP (2021). Food Waste Index Report 2021. United Nations Environment Programme.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636007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• MoFPI, GoI (2023). Annual Report 2022–23. Ministry of Food Processing Industries.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882895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• NSSO (2014). Key Indicators of Household Consumer Expenditure (68th Round). Government of India.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129783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• FSSAI (2021). Good Storage Practices for Food Products. Food Safety and Standards Authority of India.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449823"/>
            <a:ext cx="1645920" cy="2560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" y="5486399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Textbooks / Standards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486399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• Hyndman, R. J., &amp; Athanasopoulos, G. (2021). Forecasting: Principles and Practice (3rd ed.). OTexts.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733287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• Hastie, T., Tibshirani, R., &amp; Friedman, J. (2009). Elements of Statistical Learning (2nd ed.). Springer.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980175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</a:rPr>
              <a:t>• Thaler, R. H., &amp; Sunstein, C. R. (2008). Nudge: Improving Decisions About Health, Wealth, and Happiness. Yale Univ. Press.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Summary — How This Addresses the Evaluation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7D0"/>
                </a:solidFill>
              </a:rPr>
              <a:t>Mapping deliverables to the two 10-mark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57784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8132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Criterion 1 — Literature Review &amp; Theoretical Background (10 marks)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5577840" cy="38404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02F"/>
                </a:solidFill>
              </a:rPr>
              <a:t>Depth of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96596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19 sources reviewed · 4 directly shape model + feature design choices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31720"/>
            <a:ext cx="5577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02F"/>
                </a:solidFill>
              </a:rPr>
              <a:t>ABDC A★ journals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37744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3 papers: IJF (Fildes 2022) · JOM (Kaipia 2017) · EJOR (Syntetos 2016)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43200"/>
            <a:ext cx="5577840" cy="38404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788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02F"/>
                </a:solidFill>
              </a:rPr>
              <a:t>Scopus Q1 journals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78892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2 papers: Nature (Springmann 2018) · Phil. Trans. R. Soc. B (Parfitt 2010)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54680"/>
            <a:ext cx="5577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200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02F"/>
                </a:solidFill>
              </a:rPr>
              <a:t>Scopus (conf/IEEE/ACM)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20040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6 papers: KDD, AAAI, IEEE ICDM, ACM SIGMOD, NeurIPS, IJACSA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566160"/>
            <a:ext cx="5577840" cy="38404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611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02F"/>
                </a:solidFill>
              </a:rPr>
              <a:t>Government/UN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61188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4 sources: UNEP 2021 · MoFPI 2023 · NSSO 2014 · FSSAI 2021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977639"/>
            <a:ext cx="5577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023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02F"/>
                </a:solidFill>
              </a:rPr>
              <a:t>Conceptual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02336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5-layer ML pipeline grounded in Nudge Theory + information asymmetry reduction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89120"/>
            <a:ext cx="5577840" cy="38404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02F"/>
                </a:solidFill>
              </a:rPr>
              <a:t>Model justification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43484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Each of 5 models justified against alternatives with literature 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417320"/>
            <a:ext cx="57607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48132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Criterion 2 — Research Design / Project Plan (10 marks)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920240"/>
            <a:ext cx="5760720" cy="38404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965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40AF"/>
                </a:solidFill>
              </a:rPr>
              <a:t>Sampling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196596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7 real Kaggle datasets identified · Synthetic fallback with NSSO-calibrated distribution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2331720"/>
            <a:ext cx="5760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2377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40AF"/>
                </a:solidFill>
              </a:rPr>
              <a:t>Data sources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37744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BigBasket · Blinkit · Mandi Prices · Food Waste · Household Consumption · Seasonal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2743200"/>
            <a:ext cx="5760720" cy="38404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2788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40AF"/>
                </a:solidFill>
              </a:rPr>
              <a:t>Train/test protocol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278892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80/20 split · Stratified for waste · Leakage-free rolling features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3154680"/>
            <a:ext cx="5760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200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40AF"/>
                </a:solidFill>
              </a:rPr>
              <a:t>Tools identified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20040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10 backend libs · 5 frontend libs · Full stack specified with versions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566160"/>
            <a:ext cx="5760720" cy="38404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3611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40AF"/>
                </a:solidFill>
              </a:rPr>
              <a:t>ML tools justified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361188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scikit-learn · XGBoost · pytorch-tabnet · mlxtend — each selected with rationale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3977639"/>
            <a:ext cx="5760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023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40AF"/>
                </a:solidFill>
              </a:rPr>
              <a:t>Milestones (v1)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02336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M1–M4 complete: lit. review + datasets + features + model selection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4389120"/>
            <a:ext cx="5760720" cy="38404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4434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40AF"/>
                </a:solidFill>
              </a:rPr>
              <a:t>Future milestones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443484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M5–M10 defined: auth · backend API · frontend · deployment · real data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864608"/>
            <a:ext cx="11612880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49377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Indian household food waste and budget inefficiency are not cultural inevitabilities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23036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BF7D0"/>
                </a:solidFill>
              </a:rPr>
              <a:t>they are predictable, preventable, and solvable with the right data and the right ML.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574243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827"/>
                </a:solidFill>
              </a:rPr>
              <a:t>Thank you  —  Questions welcome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